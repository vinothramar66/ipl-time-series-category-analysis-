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320040"/>
          </a:xfrm>
          <a:prstGeom prst="rect">
            <a:avLst/>
          </a:prstGeom>
          <a:solidFill>
            <a:srgbClr val="0050A0"/>
          </a:solidFill>
          <a:ln w="12700">
            <a:solidFill>
              <a:srgbClr val="005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097280"/>
            <a:ext cx="5486400" cy="5486400"/>
          </a:xfrm>
          <a:prstGeom prst="ellipse">
            <a:avLst/>
          </a:prstGeom>
          <a:solidFill>
            <a:srgbClr val="0A1F45"/>
          </a:solidFill>
          <a:ln w="381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-457200"/>
            <a:ext cx="3840480" cy="3840480"/>
          </a:xfrm>
          <a:prstGeom prst="ellipse">
            <a:avLst/>
          </a:prstGeom>
          <a:solidFill>
            <a:srgbClr val="0D2A5E"/>
          </a:solidFill>
          <a:ln w="25400">
            <a:solidFill>
              <a:srgbClr val="FFC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50E1F"/>
                </a:solidFill>
              </a:rPr>
              <a:t>IPL 2008–2025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Time Series &amp;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Analysis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5029200" cy="45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Syntecxhub Data Science Internship  ·  Week 2 · Project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2519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51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Time-Series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71800" y="42519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4251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Category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9240" y="42519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4251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2008–2025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26680" y="42519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4251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Statistical Insights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C"/>
                </a:solidFill>
              </a:rPr>
              <a:t>CONFIDENTIAL  ·  Data Science Analytics Report  ·  Syntecxhub ©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 of the Indian Premier League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502920" cy="502920"/>
          </a:xfrm>
          <a:prstGeom prst="ellipse">
            <a:avLst/>
          </a:prstGeom>
          <a:solidFill>
            <a:srgbClr val="1A3A6B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Founded in 2008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09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Launched by BCCI, revolutionizing T20 cricket globally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50008"/>
            <a:ext cx="502920" cy="502920"/>
          </a:xfrm>
          <a:prstGeom prst="ellipse">
            <a:avLst/>
          </a:prstGeom>
          <a:solidFill>
            <a:srgbClr val="1A3A6B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350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Viewership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5968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 600 million viewers across 100+ countries annually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236976"/>
            <a:ext cx="502920" cy="502920"/>
          </a:xfrm>
          <a:prstGeom prst="ellipse">
            <a:avLst/>
          </a:prstGeom>
          <a:solidFill>
            <a:srgbClr val="1A3A6B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Economy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4838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$10+ billion brand value; one of the richest sports leagues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123944"/>
            <a:ext cx="502920" cy="502920"/>
          </a:xfrm>
          <a:prstGeom prst="ellipse">
            <a:avLst/>
          </a:prstGeom>
          <a:solidFill>
            <a:srgbClr val="1A3A6B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4123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370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20-over T20 matches; fast-paced, high-scoring entertainment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5010912"/>
            <a:ext cx="502920" cy="502920"/>
          </a:xfrm>
          <a:prstGeom prst="ellipse">
            <a:avLst/>
          </a:prstGeom>
          <a:solidFill>
            <a:srgbClr val="1A3A6B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5010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 Span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257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2008–2025 — 18 seasons of world-class cricket data analyzed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1417320"/>
            <a:ext cx="4846320" cy="4892040"/>
          </a:xfrm>
          <a:prstGeom prst="rect">
            <a:avLst/>
          </a:prstGeom>
          <a:solidFill>
            <a:srgbClr val="0D1F3C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 of This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40880" y="2103120"/>
            <a:ext cx="44805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Analyze run-scoring trends across all 18 IPL seasons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2761488"/>
            <a:ext cx="44805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761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Identify top-performing batsmen, bowlers &amp; all-rounders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3419856"/>
            <a:ext cx="44805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4198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Examine team win rates, toss strategies &amp; match outcomes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4078224"/>
            <a:ext cx="44805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40782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04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Uncover seasonal patterns and format evolution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40880" y="4736592"/>
            <a:ext cx="44805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47365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05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Provide data-driven insights for cricket analytics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5394960"/>
            <a:ext cx="44805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5394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06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 a foundation for predictive IPL performance models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&amp;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57784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577840" cy="73152"/>
          </a:xfrm>
          <a:prstGeom prst="rect">
            <a:avLst/>
          </a:prstGeom>
          <a:solidFill>
            <a:srgbClr val="0050A0"/>
          </a:solidFill>
          <a:ln w="12700">
            <a:solidFill>
              <a:srgbClr val="0050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0050A0"/>
          </a:solidFill>
          <a:ln w="12700">
            <a:solidFill>
              <a:srgbClr val="005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6733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matches.csv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0050A0"/>
          </a:solidFill>
          <a:ln w="12700">
            <a:solidFill>
              <a:srgbClr val="005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488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1,092 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14884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E8EDF5"/>
          </a:solidFill>
          <a:ln w="12700">
            <a:solidFill>
              <a:srgbClr val="005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1488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E1F"/>
                </a:solidFill>
              </a:rPr>
              <a:t>20 columns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Match-level data: teams, venue, toss, result, winner, margin &amp; player of match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508760"/>
            <a:ext cx="557784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508760"/>
            <a:ext cx="55778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691640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⚾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8040" y="16733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deliveries.csv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214884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1488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260,000+ rows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09560" y="214884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E8EDF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21488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E1F"/>
                </a:solidFill>
              </a:rPr>
              <a:t>21 columns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5603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Ball-by-ball data: batsman, bowler, runs, extras, wickets per delivery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557784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977640"/>
            <a:ext cx="55778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371600" y="4142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players.csv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61772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6177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700+ rows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03120" y="461772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E8E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46177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E1F"/>
                </a:solidFill>
              </a:rPr>
              <a:t>8 columns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5029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 metadata: name, country, role, batting/bowling style and team history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3977640"/>
            <a:ext cx="557784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977640"/>
            <a:ext cx="5577840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4160520"/>
            <a:ext cx="594360" cy="59436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178040" y="4142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seasons.csv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6520" y="461772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6177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 rows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461772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E8EDF5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46177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E1F"/>
                </a:solidFill>
              </a:rPr>
              <a:t>6 columns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5029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Season-level summary: year, champion team, runner-up, venues &amp; total matches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6309360"/>
            <a:ext cx="1124712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30936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800"/>
                </a:solidFill>
              </a:rPr>
              <a:t>📂  Source: Kaggle IPL Dataset (2008–2025)  ·  All data pre-processed and validated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KEY STATS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by the Numbers (2008–2025)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19202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56616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27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1,092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Matches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566160" cy="1920240"/>
          </a:xfrm>
          <a:prstGeom prst="rect">
            <a:avLst/>
          </a:prstGeom>
          <a:solidFill>
            <a:srgbClr val="0D1F3C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35661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527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8912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Seasons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566160" cy="19202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417320"/>
            <a:ext cx="35661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527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3816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 Featured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3566160" cy="192024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20440"/>
            <a:ext cx="35661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30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700+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Players Analyzed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520440"/>
            <a:ext cx="3566160" cy="1920240"/>
          </a:xfrm>
          <a:prstGeom prst="rect">
            <a:avLst/>
          </a:prstGeom>
          <a:solidFill>
            <a:srgbClr val="0D1F3C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3520440"/>
            <a:ext cx="35661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3630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⚾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297680" y="4114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300K+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389120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Deliveries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520440"/>
            <a:ext cx="3566160" cy="1920240"/>
          </a:xfrm>
          <a:prstGeom prst="rect">
            <a:avLst/>
          </a:prstGeom>
          <a:solidFill>
            <a:srgbClr val="0D1F3C"/>
          </a:solidFill>
          <a:ln w="254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0" y="3520440"/>
            <a:ext cx="356616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630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138160" y="4114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1,100+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229600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Venues Used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68756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Most Titles: CSK &amp; MI — 5 each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37560" y="5806440"/>
            <a:ext cx="0" cy="5486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568756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🏏 Most Wins: RCB — 141 matches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5806440"/>
            <a:ext cx="0" cy="5486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68756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Peak Season: 2023 — 25,411 runs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06840" y="5806440"/>
            <a:ext cx="0" cy="5486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568756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Win Split: 50.5% by Runs | 49.5% by Wickets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CHART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Runs Scored Per IPL Season (2008–2025)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6" name="Image 0" descr="/mnt/user-data/uploads/Ch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79552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417320"/>
            <a:ext cx="3337560" cy="4754880"/>
          </a:xfrm>
          <a:prstGeom prst="rect">
            <a:avLst/>
          </a:prstGeom>
          <a:solidFill>
            <a:srgbClr val="0D1F3C"/>
          </a:solidFill>
          <a:ln w="25400">
            <a:solidFill>
              <a:srgbClr val="005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03920" y="1417320"/>
            <a:ext cx="333756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508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Key Insights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77072" y="2057400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20574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Season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32520" y="2304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 recorded the highest runs — 25,411, driven by expanded teams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77072" y="2843784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2843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Lowest Season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32520" y="3090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 dipped to 18,868 runs due to reduced match count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77072" y="3630168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32520" y="36301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Upward Trend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32520" y="38770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Post-2021, runs per season grew consistently by ~10%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77072" y="4416552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32520" y="44165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2011 Spike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32520" y="4663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23,914 runs — an outlier season with high-scoring pitches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577072" y="5202936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52029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Rate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32520" y="54498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~20% increase in total runs from 2008 to 2025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309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</a:rPr>
              <a:t>Chart Type: Line Chart  ·  Source: IPL deliveries.csv  ·  Slide 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CHART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First Innings Score &amp; Total Sixes Per Season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6" name="Image 0" descr="/mnt/user-data/uploads/Char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79552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417320"/>
            <a:ext cx="3337560" cy="4754880"/>
          </a:xfrm>
          <a:prstGeom prst="rect">
            <a:avLst/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03920" y="1417320"/>
            <a:ext cx="33375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508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Key Insights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77072" y="205740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20574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2014 Record High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32520" y="2304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1st innings score peaked at 184 — batsman-friendly era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77072" y="2843784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2843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Sixes Surge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32520" y="3090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2022–23 saw 1,000+ sixes — T20 evolving into a power game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77072" y="3630168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32520" y="36301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 Dip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32520" y="38770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Lowest avg score of 167 — bowlers dominated that season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77072" y="4416552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32520" y="44165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 Peak Sixes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32520" y="4663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1,040 sixes — aggressive batting strategies dominant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577072" y="5202936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52029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Positive Correlation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32520" y="54498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sixes count closely tracks higher first-innings scores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309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</a:rPr>
              <a:t>Chart Type: Dual-Axis Line Chart  ·  Source: matches.csv + deliveries.csv  ·  Slide 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CHART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IPL Teams by Total Wins (2008–2025)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6" name="Image 0" descr="/mnt/user-data/uploads/Char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79552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417320"/>
            <a:ext cx="3337560" cy="475488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03920" y="1417320"/>
            <a:ext cx="33375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508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Key Insights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77072" y="2057400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20574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RCB Leads Wins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32520" y="2304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141 total wins — most in IPL history, yet no title (irony!)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77072" y="2843784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2843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Top-4 Dominance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32520" y="3090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RCB, KKR, CSK, MI account for 519 of total wins combined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77072" y="3630168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32520" y="36301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CSK Consistency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32520" y="38770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126 wins with 5 titles — best win-to-title conversion ratio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77072" y="4416552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32520" y="44165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Delhi Split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32520" y="4663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Delhi Daredevils (72) vs Delhi Capitals (49) — same city, rebranded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577072" y="5202936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52029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Punjab Gap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32520" y="54498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Kings XI/Punjab Kings shows lower win rate despite long tenure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309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</a:rPr>
              <a:t>Chart Type: Horizontal Bar Chart  ·  Source: matches.csv  ·  Slide 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CHART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Toss Decision Patterns &amp; Match Win Methods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6" name="Image 0" descr="/mnt/user-data/uploads/Char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5029200" cy="3657600"/>
          </a:xfrm>
          <a:prstGeom prst="rect">
            <a:avLst/>
          </a:prstGeom>
        </p:spPr>
      </p:pic>
      <p:pic>
        <p:nvPicPr>
          <p:cNvPr id="7" name="Image 1" descr="/mnt/user-data/uploads/Chart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411480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5166360"/>
            <a:ext cx="11338560" cy="1325880"/>
          </a:xfrm>
          <a:prstGeom prst="rect">
            <a:avLst/>
          </a:prstGeom>
          <a:solidFill>
            <a:srgbClr val="0D1F3C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🪙 Bat First Preferred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4360" y="5532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53.2% of toss-winners chose to bat — shows trust in setting targets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37560" y="5303520"/>
            <a:ext cx="0" cy="100584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2900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Nearly Even Win Methods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5532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50.5% by runs vs 49.5% by wickets — perfectly balanced contest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5303520"/>
            <a:ext cx="0" cy="100584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636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Chase Success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263640" y="5532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 chasing win nearly half of all games — strong batting depth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006840" y="5303520"/>
            <a:ext cx="0" cy="100584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9828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Strategy Evolution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098280" y="5532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Fielding first trend growing in recent seasons with dew-factor awareness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CHART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Match Calendar &amp; Boundary Trends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6" name="Image 0" descr="/mnt/user-data/uploads/Char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5303520" cy="2331720"/>
          </a:xfrm>
          <a:prstGeom prst="rect">
            <a:avLst/>
          </a:prstGeom>
        </p:spPr>
      </p:pic>
      <p:pic>
        <p:nvPicPr>
          <p:cNvPr id="7" name="Image 1" descr="/mnt/user-data/uploads/Chart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897880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3977640"/>
            <a:ext cx="36576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11480" y="3977640"/>
            <a:ext cx="3657600" cy="64008"/>
          </a:xfrm>
          <a:prstGeom prst="rect">
            <a:avLst/>
          </a:prstGeom>
          <a:solidFill>
            <a:srgbClr val="0050A0"/>
          </a:solidFill>
          <a:ln w="12700">
            <a:solidFill>
              <a:srgbClr val="0050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05840" y="40873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is Peak Month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5840" y="43708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391 matches — playoff intensity + league stage climax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97680" y="3977640"/>
            <a:ext cx="36576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3977640"/>
            <a:ext cx="3657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891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🌅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92040" y="40873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March Start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92040" y="43708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162 matches — season warm-up phase, first two weeks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83880" y="3977640"/>
            <a:ext cx="36576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83880" y="3977640"/>
            <a:ext cx="36576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753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6️⃣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778240" y="40873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Sixes Doubling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778240" y="43708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saw 770+ sixes vs ~700 in 2008 — power hitting evolved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1480" y="5349240"/>
            <a:ext cx="36576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11480" y="5349240"/>
            <a:ext cx="36576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005840" y="5458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Fours Still Dominant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05840" y="57424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Fours consistently outnumber sixes 2:1 across all seasons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297680" y="5349240"/>
            <a:ext cx="36576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297680" y="5349240"/>
            <a:ext cx="36576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8912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4892040" y="5458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2011 Peak Boundaries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892040" y="57424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1,750 fours — highest ever, fast outfields + flat pitches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183880" y="5349240"/>
            <a:ext cx="36576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183880" y="5349240"/>
            <a:ext cx="36576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27532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8778240" y="5458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Boundary Explosion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778240" y="57424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1,920 fours in 2025 — new record, ultra-aggressive batting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CHART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Title Count &amp; Chart Selection Rationale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6" name="Image 0" descr="/mnt/user-data/uploads/Char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417320"/>
            <a:ext cx="5715000" cy="5074920"/>
          </a:xfrm>
          <a:prstGeom prst="rect">
            <a:avLst/>
          </a:prstGeom>
          <a:solidFill>
            <a:srgbClr val="0D1F3C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26480" y="1417320"/>
            <a:ext cx="5715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5087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Chart Selection Rationale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2331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Time-series data (Runs per season) — shows trends and trajectory over years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2752344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779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Dual-Axis Line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0266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Comparing two metrics (Avg Score &amp; Sixes) with different scales simultaneously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3447288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474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Horizontal Bar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37216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rankings — easy comparison across many categories, labels readable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63640" y="4142232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 Chart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4416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Proportional share (Toss decision, Win method) — ideal for part-to-whole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640" y="4837176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4864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Grouped Bar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51114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Sixes vs Fours per season — side-by-side comparison of related categories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63640" y="553212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5559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Coding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5806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color per metric across charts ensures intuitive reading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11480" y="5029200"/>
            <a:ext cx="5486400" cy="1463040"/>
          </a:xfrm>
          <a:prstGeom prst="rect">
            <a:avLst/>
          </a:prstGeom>
          <a:solidFill>
            <a:srgbClr val="0D1F3C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1023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Title Insights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94360" y="5440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CSK &amp; MI dominate with 5 titles each out of 18 seasons (55% combined)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KKR's 4 titles make them the 3rd most successful franchise in IPL history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CATEGORY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IPL Batsmen of All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Virat Kohli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Royal Challengers Bangalore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8,000+ Runs · Avg 37.5 · 8 Centuries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80360" y="150876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9864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Rohit Sharma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9864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Mumbai Indians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9864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6,600+ Runs · Avg 31.2 · Highest: 109*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15087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David Warner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036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Sunrisers Hyderabad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6,500+ Runs · Avg 41.6 · Orange Cap ×2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5236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0" y="15087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6208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Shikhar Dhawan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6208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Teams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6208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6,200+ Runs · Avg 35.3 · Elegant Opener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8408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75520" y="150876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9380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Suresh Raina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89380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Chennai Super Kings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9380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5,500+ Runs · Avg 33.3 · 1st to 5000 IPL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11247120" cy="3246120"/>
          </a:xfrm>
          <a:prstGeom prst="rect">
            <a:avLst/>
          </a:prstGeom>
          <a:solidFill>
            <a:srgbClr val="0D1F3C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Detailed Batting Statistics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3749040"/>
            <a:ext cx="23774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Player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26080" y="3749040"/>
            <a:ext cx="11887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Matches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0" y="3749040"/>
            <a:ext cx="10972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Runs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212080" y="3749040"/>
            <a:ext cx="10972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Avg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3749040"/>
            <a:ext cx="10972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SR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06640" y="3749040"/>
            <a:ext cx="9144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3749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50s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21040" y="3749040"/>
            <a:ext cx="9144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3749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100s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4160520"/>
            <a:ext cx="237744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1605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Virat Kohli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4160520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0" y="41605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252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0" y="4160520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4160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8,004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212080" y="4160520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4160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37.5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09360" y="4160520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160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131.6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406640" y="4160520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41605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54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4160520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41605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48640" y="4599432"/>
            <a:ext cx="237744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45994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Rohit Sharma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926080" y="4599432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26080" y="4599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257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14800" y="4599432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6,628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212080" y="4599432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1208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31.2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309360" y="4599432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936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130.4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406640" y="4599432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06640" y="45994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43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321040" y="4599432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21040" y="45994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48640" y="5038344"/>
            <a:ext cx="237744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" y="50383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David Warner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2926080" y="5038344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26080" y="50383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184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114800" y="5038344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5038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6,565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212080" y="5038344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12080" y="5038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41.6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309360" y="5038344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09360" y="5038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140.8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7406640" y="5038344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06640" y="50383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60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8321040" y="5038344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21040" y="50383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48640" y="5477256"/>
            <a:ext cx="237744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8640" y="5477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Shikhar Dhawan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2926080" y="5477256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926080" y="54772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222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114800" y="5477256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6,244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212080" y="5477256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21208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35.3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309360" y="5477256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30936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127.1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7406640" y="5477256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06640" y="54772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51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8321040" y="5477256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21040" y="54772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548640" y="5916168"/>
            <a:ext cx="237744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" y="59161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Suresh Raina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2926080" y="5916168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926080" y="5916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205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114800" y="5916168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59161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5,528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212080" y="5916168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212080" y="59161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33.3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309360" y="5916168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09360" y="59161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136.8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406640" y="5916168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06640" y="5916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38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8321040" y="5916168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21040" y="5916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CATEGORY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IPL Bowlers of All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Dwayne Bravo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Chennai Super Kings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183 Wickets · Eco 8.39 · Purple Cap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150876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9864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Yuzvendra Chahal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9864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 Royals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9864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205 Wickets · Eco 7.64 · Leg Spinner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5087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Lasith Malinga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3036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Mumbai Indians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170 Wickets · Eco 7.14 · Yorker Master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50876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6208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Piyush Chawla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6208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Teams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6208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157 Wickets · Eco 8.05 · Leg Break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8408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75520" y="15087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9380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Amit Mishra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9380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Teams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9380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166 Wickets · Eco 7.41 · Googly Expert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11247120" cy="3246120"/>
          </a:xfrm>
          <a:prstGeom prst="rect">
            <a:avLst/>
          </a:prstGeom>
          <a:solidFill>
            <a:srgbClr val="0D1F3C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Detailed Bowling Statistics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3749040"/>
            <a:ext cx="23774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Player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6080" y="3749040"/>
            <a:ext cx="11887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Matches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0" y="3749040"/>
            <a:ext cx="11887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Wickets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03520" y="3749040"/>
            <a:ext cx="11887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Eco Rate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3749040"/>
            <a:ext cx="10972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Avg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89520" y="3749040"/>
            <a:ext cx="9144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749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5W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03920" y="3749040"/>
            <a:ext cx="9144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3749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Best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160520"/>
            <a:ext cx="237744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1605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Yuzvendra Chahal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926080" y="4160520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41605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114800" y="4160520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41605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303520" y="4160520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0" y="41605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7.64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92240" y="4160520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160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22.1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589520" y="4160520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41605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503920" y="4160520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03920" y="41605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4/25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8640" y="4599432"/>
            <a:ext cx="237744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5994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Dwayne Bravo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926080" y="4599432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0" y="4599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114800" y="4599432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0" y="4599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183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303520" y="4599432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0" y="4599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8.39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492240" y="4599432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24.3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589520" y="4599432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0" y="45994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503920" y="4599432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03920" y="45994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4/22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48640" y="5038344"/>
            <a:ext cx="237744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50383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Lasith Malinga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926080" y="5038344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926080" y="50383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4114800" y="5038344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0" y="50383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170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303520" y="5038344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03520" y="50383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7.14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492240" y="5038344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92240" y="5038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19.8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589520" y="5038344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589520" y="50383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503920" y="5038344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503920" y="50383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5/13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8640" y="5477256"/>
            <a:ext cx="237744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8640" y="5477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Amit Mishra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2926080" y="5477256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926080" y="54772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154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114800" y="5477256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14800" y="54772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166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5303520" y="5477256"/>
            <a:ext cx="11887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03520" y="54772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7.41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6492240" y="5477256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9224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21.7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7589520" y="5477256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589520" y="54772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8503920" y="5477256"/>
            <a:ext cx="9144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503920" y="54772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5/17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548640" y="5916168"/>
            <a:ext cx="237744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8640" y="59161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Piyush Chawla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2926080" y="5916168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926080" y="5916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165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4114800" y="5916168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114800" y="5916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157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5303520" y="5916168"/>
            <a:ext cx="11887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303520" y="5916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8.05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6492240" y="5916168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492240" y="59161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28.2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7589520" y="5916168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89520" y="5916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8503920" y="5916168"/>
            <a:ext cx="9144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503920" y="5916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4/17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CATEGORY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Best Overall Players (All-Round Impact)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Virat Kohli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8,004 Runs · Batting Maestro · 252 Matches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150876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9864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Rohit Sharma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9864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9864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6,628 Runs · 5× IPL Champion · Captain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5087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Dhoni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3036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5,082 Runs · 5× Title · Wicket Keeper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5087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6208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 de Villiers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6208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6208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5,162 Runs · Avg 39.7 · Impact Player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8408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75520" y="150876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9380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Suresh Raina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9380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9380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5,528 Runs · All-Round · IPL Legend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11247120" cy="3246120"/>
          </a:xfrm>
          <a:prstGeom prst="rect">
            <a:avLst/>
          </a:prstGeom>
          <a:solidFill>
            <a:srgbClr val="0D1F3C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 Overall Player Scoring Criteria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794760"/>
            <a:ext cx="2011680" cy="1508760"/>
          </a:xfrm>
          <a:prstGeom prst="rect">
            <a:avLst/>
          </a:prstGeom>
          <a:solidFill>
            <a:srgbClr val="1A3A6B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3794760"/>
            <a:ext cx="201168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31520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Scored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34640" y="3794760"/>
            <a:ext cx="2011680" cy="1508760"/>
          </a:xfrm>
          <a:prstGeom prst="rect">
            <a:avLst/>
          </a:prstGeom>
          <a:solidFill>
            <a:srgbClr val="1A3A6B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34640" y="379476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2926080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Consistency (Avg)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0" y="3794760"/>
            <a:ext cx="2011680" cy="1508760"/>
          </a:xfrm>
          <a:prstGeom prst="rect">
            <a:avLst/>
          </a:prstGeom>
          <a:solidFill>
            <a:srgbClr val="1A3A6B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0" y="3794760"/>
            <a:ext cx="20116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5120640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Matches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23760" y="3794760"/>
            <a:ext cx="2011680" cy="1508760"/>
          </a:xfrm>
          <a:prstGeom prst="rect">
            <a:avLst/>
          </a:prstGeom>
          <a:solidFill>
            <a:srgbClr val="1A3A6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23760" y="379476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7315200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Wins Contribution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418320" y="3794760"/>
            <a:ext cx="2011680" cy="1508760"/>
          </a:xfrm>
          <a:prstGeom prst="rect">
            <a:avLst/>
          </a:prstGeom>
          <a:solidFill>
            <a:srgbClr val="1A3A6B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18320" y="3794760"/>
            <a:ext cx="20116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9509760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Awards (PoM, Orange Cap)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solidFill>
            <a:srgbClr val="0050A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Virat Kohli remains the most impactful IPL player over 18 seasons with the highest runs, most Player of the Match awards, and unmatched consistency across all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CATEGORY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IPL Captains of All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Dhoni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Chennai Super Kings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Titles · 200+ Matches · Win Rate 60%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150876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9864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Rohit Sharma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9864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Mumbai Indians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9864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Titles · Youngest Skipper to 5 IPL Titles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5087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Gautam Gambhir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3036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KKR / MI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Titles as Captain · Comeback 2024 MI Coach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50876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6208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David Warner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6208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Sunrisers Hyderabad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6208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 Finals · Led SRH to 2016 Title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84080" y="1417320"/>
            <a:ext cx="2148840" cy="1691640"/>
          </a:xfrm>
          <a:prstGeom prst="rect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75520" y="15087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93808" y="19659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Shreyas Iyer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93808" y="23317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KKR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93808" y="26060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Title · Aggressive Tactical Leader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11247120" cy="3246120"/>
          </a:xfrm>
          <a:prstGeom prst="rect">
            <a:avLst/>
          </a:prstGeom>
          <a:solidFill>
            <a:srgbClr val="0D1F3C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Captain Performance Metrics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3749040"/>
            <a:ext cx="22860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Captain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34640" y="3749040"/>
            <a:ext cx="12801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Matches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0" y="3749040"/>
            <a:ext cx="10972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Wins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12080" y="3749040"/>
            <a:ext cx="10972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Win%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09360" y="3749040"/>
            <a:ext cx="10972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Titles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06640" y="3749040"/>
            <a:ext cx="25603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Style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160520"/>
            <a:ext cx="22860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160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MS Dhoni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834640" y="4160520"/>
            <a:ext cx="128016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41605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260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14800" y="4160520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0" y="4160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12080" y="4160520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0" y="4160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60%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09360" y="4160520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4160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406640" y="4160520"/>
            <a:ext cx="25603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0" y="41605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Calm Under Pressure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8640" y="4599432"/>
            <a:ext cx="22860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45994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Rohit Sharma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834640" y="4599432"/>
            <a:ext cx="128016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0" y="4599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213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114800" y="4599432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131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212080" y="4599432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1208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61.5%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309360" y="4599432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406640" y="4599432"/>
            <a:ext cx="25603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6640" y="45994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Aggressive &amp; Consistent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8640" y="5038344"/>
            <a:ext cx="22860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50383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G. Gambhir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834640" y="5038344"/>
            <a:ext cx="128016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0" y="50383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129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114800" y="5038344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0" y="5038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71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212080" y="5038344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212080" y="5038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55%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309360" y="5038344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5038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406640" y="5038344"/>
            <a:ext cx="25603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06640" y="5038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Strategic &amp; Disciplined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48640" y="5477256"/>
            <a:ext cx="228600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54772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David Warner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834640" y="5477256"/>
            <a:ext cx="128016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834640" y="54772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96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4114800" y="5477256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1480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55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212080" y="5477256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1208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57.3%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309360" y="5477256"/>
            <a:ext cx="109728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7406640" y="5477256"/>
            <a:ext cx="2560320" cy="402336"/>
          </a:xfrm>
          <a:prstGeom prst="rect">
            <a:avLst/>
          </a:prstGeom>
          <a:solidFill>
            <a:srgbClr val="1222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06640" y="54772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Power-Hitter Leader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48640" y="5916168"/>
            <a:ext cx="228600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8640" y="5916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Shreyas Iyer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2834640" y="5916168"/>
            <a:ext cx="128016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834640" y="59161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48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4114800" y="5916168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14800" y="59161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29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5212080" y="5916168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212080" y="59161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60.4%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309360" y="5916168"/>
            <a:ext cx="109728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09360" y="59161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7406640" y="5916168"/>
            <a:ext cx="2560320" cy="402336"/>
          </a:xfrm>
          <a:prstGeom prst="rect">
            <a:avLst/>
          </a:prstGeom>
          <a:solidFill>
            <a:srgbClr val="0E1E3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406640" y="59161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Young Tactical Genius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TEAM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Franchise Performance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Chennai Super Kings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8016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46304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463040"/>
            <a:ext cx="2651760" cy="502920"/>
          </a:xfrm>
          <a:prstGeom prst="rect">
            <a:avLst/>
          </a:prstGeom>
          <a:solidFill>
            <a:srgbClr val="004B9D"/>
          </a:solidFill>
          <a:ln w="12700">
            <a:solidFill>
              <a:srgbClr val="004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Mumbai Indians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004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9184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004B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004B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146304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22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463040"/>
            <a:ext cx="2651760" cy="502920"/>
          </a:xfrm>
          <a:prstGeom prst="rect">
            <a:avLst/>
          </a:prstGeom>
          <a:solidFill>
            <a:srgbClr val="3A225D"/>
          </a:solidFill>
          <a:ln w="12700">
            <a:solidFill>
              <a:srgbClr val="3A22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KKR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2648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Kolkata Knight Riders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3A22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2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2648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944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3A225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2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7240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3A22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2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7240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869680" y="146304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869680" y="1463040"/>
            <a:ext cx="265176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RCB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96112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Royal Challengers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96112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6112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78408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8408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78408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607040" y="251460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0704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607040" y="2907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388620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4A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65760" y="3886200"/>
            <a:ext cx="2651760" cy="502920"/>
          </a:xfrm>
          <a:prstGeom prst="rect">
            <a:avLst/>
          </a:prstGeom>
          <a:solidFill>
            <a:srgbClr val="254AA5"/>
          </a:solidFill>
          <a:ln w="12700">
            <a:solidFill>
              <a:srgbClr val="254AA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57200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 Royals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254AA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4A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5720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28016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254AA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8016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4A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28016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0312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254AA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0312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4A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54%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210312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00400" y="388620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265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200400" y="3886200"/>
            <a:ext cx="2651760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SRH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3291840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Sunrisers Hyderabad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29184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9184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5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29184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1480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5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11480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93776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3776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5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493776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035040" y="388620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719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035040" y="3886200"/>
            <a:ext cx="2651760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3504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PBKS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6126480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Punjab Kings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12648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2648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19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12648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94944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4944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19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694944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77240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77240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19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777240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869680" y="388620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A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8869680" y="3886200"/>
            <a:ext cx="2651760" cy="502920"/>
          </a:xfrm>
          <a:prstGeom prst="rect">
            <a:avLst/>
          </a:prstGeom>
          <a:solidFill>
            <a:srgbClr val="00AAD2"/>
          </a:solidFill>
          <a:ln w="12700">
            <a:solidFill>
              <a:srgbClr val="00AAD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86968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8961120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0E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Delhi Capitals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96112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00AAD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6112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A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896112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Titles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978408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00AAD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8408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A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121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978408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10607040" y="4937760"/>
            <a:ext cx="731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00AAD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07040" y="4965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A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10607040" y="5330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</a:rPr>
              <a:t>Win%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0E1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5486400" cy="5897880"/>
          </a:xfrm>
          <a:prstGeom prst="rect">
            <a:avLst/>
          </a:prstGeom>
          <a:solidFill>
            <a:srgbClr val="0D1F3C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54864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498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Key Takeaways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runs per season grew ~20% from 2008 to 2025, signaling aggressive batting evolution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CSK and MI dominate with 5 titles each — consistency over 18 seasons defines champions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Bat-first remains the most popular toss decision (53%) despite rising chase success rates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6️⃣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5204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Sixes count nearly doubled from 2008 to 2025 — power-hitting is the new IPL currency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2519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Virat Kohli is the all-time run-scoring king with 8,000+ runs across 252 IPL appearances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029200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⚔️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9834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rates are almost perfectly split: 50.5% by runs vs 49.5% by wickets — truly balanced format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760720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5715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accounts for the most matches (391) — the climax phase is when IPL truly comes alive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640080"/>
            <a:ext cx="5715000" cy="5897880"/>
          </a:xfrm>
          <a:prstGeom prst="rect">
            <a:avLst/>
          </a:prstGeom>
          <a:solidFill>
            <a:srgbClr val="0D1F3C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640080"/>
            <a:ext cx="5715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749808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Conclusions &amp; Predictions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63640" y="1325880"/>
            <a:ext cx="544068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371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1228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to Exceed 26,000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Based on trajectory, 2026 IPL season should surpass 26K total runs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148840"/>
            <a:ext cx="544068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81228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Player Rule Effect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substitution rules will push batting-heavy strategies, inflating scores further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2971800"/>
            <a:ext cx="544068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1228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Sixes to Cross 1,200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trend of 775+ suggests 1,200 sixes within 2 seasons with flat pitches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3794760"/>
            <a:ext cx="544068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8404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81228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CSK or MI for 2026 Title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1228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Their IPL infrastructure and retention strategies give a statistical edge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4617720"/>
            <a:ext cx="544068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46634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812280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Sub-7.0 Economy Bowlers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1228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Spin bowlers with sub-7.0 economy will dominate as team strategies evolve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5440680"/>
            <a:ext cx="544068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54864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81228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Team Selection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12280" y="5760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player analytics will transform IPL auction &amp; match-day decision making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C"/>
                </a:solidFill>
              </a:rPr>
              <a:t>Syntecxhub Data Science Internship  ·  Week 2 Project 1  ·  IPL Analysis 2008–2025  ·  ©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Syntecxhub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Time Series &amp; Category Analysis 2008–2025</dc:title>
  <dc:subject>PptxGenJS Presentation</dc:subject>
  <dc:creator>Syntecxhub Data Science</dc:creator>
  <cp:lastModifiedBy>Syntecxhub Data Science</cp:lastModifiedBy>
  <cp:revision>1</cp:revision>
  <dcterms:created xsi:type="dcterms:W3CDTF">2026-04-14T07:10:59Z</dcterms:created>
  <dcterms:modified xsi:type="dcterms:W3CDTF">2026-04-14T07:10:59Z</dcterms:modified>
</cp:coreProperties>
</file>